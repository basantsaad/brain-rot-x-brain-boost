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00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0021"/>
          </a:solidFill>
          <a:ln w="12700">
            <a:solidFill>
              <a:srgbClr val="22002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" y="-365760"/>
            <a:ext cx="3108960" cy="2011680"/>
          </a:xfrm>
          <a:prstGeom prst="ellipse">
            <a:avLst/>
          </a:prstGeom>
          <a:solidFill>
            <a:srgbClr val="FF31DF">
              <a:alpha val="45000"/>
            </a:srgbClr>
          </a:solidFill>
          <a:ln w="12700">
            <a:solidFill>
              <a:srgbClr val="FF31D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61120" y="-182880"/>
            <a:ext cx="2743200" cy="1920240"/>
          </a:xfrm>
          <a:prstGeom prst="ellipse">
            <a:avLst/>
          </a:prstGeom>
          <a:solidFill>
            <a:srgbClr val="42CAFF">
              <a:alpha val="32000"/>
            </a:srgbClr>
          </a:solidFill>
          <a:ln w="12700">
            <a:solidFill>
              <a:srgbClr val="42CA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77724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Bboo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58368" y="16002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4CFF0"/>
                </a:solidFill>
              </a:rPr>
              <a:t>Anti-distraction focus recovery system with MySQL, dashboard analytics, and an Ollama-powered assistant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2743200"/>
            <a:ext cx="2743200" cy="585216"/>
          </a:xfrm>
          <a:prstGeom prst="roundRect">
            <a:avLst>
              <a:gd name="adj" fmla="val 12500"/>
            </a:avLst>
          </a:prstGeom>
          <a:solidFill>
            <a:srgbClr val="FF31DF"/>
          </a:solidFill>
          <a:ln w="12700">
            <a:solidFill>
              <a:srgbClr val="FF31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907792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System Analysis Project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046720" y="914400"/>
            <a:ext cx="3291840" cy="4389120"/>
          </a:xfrm>
          <a:prstGeom prst="roundRect">
            <a:avLst>
              <a:gd name="adj" fmla="val 2222"/>
            </a:avLst>
          </a:prstGeom>
          <a:solidFill>
            <a:srgbClr val="3B093F">
              <a:alpha val="9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66760" y="11887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2CAFF"/>
                </a:solidFill>
              </a:rPr>
              <a:t>Core modules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75320" y="1645920"/>
            <a:ext cx="2651760" cy="2560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FFF8FF"/>
                </a:solidFill>
              </a:rPr>
              <a:t>Auth and session management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FFF8FF"/>
                </a:solidFill>
              </a:rPr>
              <a:t>Focus dashboard and plans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FFF8FF"/>
                </a:solidFill>
              </a:rPr>
              <a:t>App usage and timer tracking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FFF8FF"/>
                </a:solidFill>
              </a:rPr>
              <a:t>Parent-child linking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FFF8FF"/>
                </a:solidFill>
              </a:rPr>
              <a:t>Assistant with Qwen on Ollama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200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0021"/>
          </a:solidFill>
          <a:ln w="12700">
            <a:solidFill>
              <a:srgbClr val="22002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" y="-365760"/>
            <a:ext cx="3108960" cy="2011680"/>
          </a:xfrm>
          <a:prstGeom prst="ellipse">
            <a:avLst/>
          </a:prstGeom>
          <a:solidFill>
            <a:srgbClr val="FF31DF">
              <a:alpha val="45000"/>
            </a:srgbClr>
          </a:solidFill>
          <a:ln w="12700">
            <a:solidFill>
              <a:srgbClr val="FF31D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61120" y="-182880"/>
            <a:ext cx="2743200" cy="1920240"/>
          </a:xfrm>
          <a:prstGeom prst="ellipse">
            <a:avLst/>
          </a:prstGeom>
          <a:solidFill>
            <a:srgbClr val="42CAFF">
              <a:alpha val="32000"/>
            </a:srgbClr>
          </a:solidFill>
          <a:ln w="12700">
            <a:solidFill>
              <a:srgbClr val="42CA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8FF"/>
                </a:solidFill>
              </a:rPr>
              <a:t>Problem and Vision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89611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CFF0"/>
                </a:solidFill>
              </a:rPr>
              <a:t>Why Bboo exists and what it aims to solve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94360" y="132588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3B093F">
              <a:alpha val="92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36208" y="132588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102B30">
              <a:alpha val="90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600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31DF"/>
                </a:solidFill>
              </a:rPr>
              <a:t>Problem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68680" y="2011680"/>
            <a:ext cx="4663440" cy="2377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FF8FF"/>
                </a:solidFill>
              </a:rPr>
              <a:t>Digital overload and distraction reduce focus quality.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FF8FF"/>
                </a:solidFill>
              </a:rPr>
              <a:t>Users need visible progress, routines, and gentle interventions.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FF8FF"/>
                </a:solidFill>
              </a:rPr>
              <a:t>Parents need supportive summaries without raw surveillance.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92240" y="1600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9C5B4"/>
                </a:solidFill>
              </a:rPr>
              <a:t>Vision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92240" y="2011680"/>
            <a:ext cx="4572000" cy="2377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FF8FF"/>
                </a:solidFill>
              </a:rPr>
              <a:t>Build a focus-recovery platform with account-based personalization.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FF8FF"/>
                </a:solidFill>
              </a:rPr>
              <a:t>Track behavior, generate plans, and surface weekly insights.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FF8FF"/>
                </a:solidFill>
              </a:rPr>
              <a:t>Add an assistant that can update the system through natural language.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200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0021"/>
          </a:solidFill>
          <a:ln w="12700">
            <a:solidFill>
              <a:srgbClr val="22002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" y="-365760"/>
            <a:ext cx="3108960" cy="2011680"/>
          </a:xfrm>
          <a:prstGeom prst="ellipse">
            <a:avLst/>
          </a:prstGeom>
          <a:solidFill>
            <a:srgbClr val="FF31DF">
              <a:alpha val="45000"/>
            </a:srgbClr>
          </a:solidFill>
          <a:ln w="12700">
            <a:solidFill>
              <a:srgbClr val="FF31D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61120" y="-182880"/>
            <a:ext cx="2743200" cy="1920240"/>
          </a:xfrm>
          <a:prstGeom prst="ellipse">
            <a:avLst/>
          </a:prstGeom>
          <a:solidFill>
            <a:srgbClr val="42CAFF">
              <a:alpha val="32000"/>
            </a:srgbClr>
          </a:solidFill>
          <a:ln w="12700">
            <a:solidFill>
              <a:srgbClr val="42CA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8FF"/>
                </a:solidFill>
              </a:rPr>
              <a:t>Project Scope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89611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CFF0"/>
                </a:solidFill>
              </a:rPr>
              <a:t>Main features implemented in the system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5486400" cy="4206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FF8FF"/>
                </a:solidFill>
              </a:rPr>
              <a:t>Authentication, session management, and MySQL persistence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FF8FF"/>
                </a:solidFill>
              </a:rPr>
              <a:t>Profile, settings, app usage, check-ins, plans, and weekly summaries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FF8FF"/>
                </a:solidFill>
              </a:rPr>
              <a:t>Reactive dashboard with focus score and behavior charts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FF8FF"/>
                </a:solidFill>
              </a:rPr>
              <a:t>Guardian linking and parent summary support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FF8FF"/>
                </a:solidFill>
              </a:rPr>
              <a:t>Assistant with tool-based actions and conversation logs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583680" y="1417320"/>
            <a:ext cx="4754880" cy="4206240"/>
          </a:xfrm>
          <a:prstGeom prst="roundRect">
            <a:avLst>
              <a:gd name="adj" fmla="val 1739"/>
            </a:avLst>
          </a:prstGeom>
          <a:solidFill>
            <a:srgbClr val="3B093F">
              <a:alpha val="92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03720" y="1737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2CAFF"/>
                </a:solidFill>
              </a:rPr>
              <a:t>Target users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903720" y="2148840"/>
            <a:ext cx="3931920" cy="2377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FFF8FF"/>
                </a:solidFill>
              </a:rPr>
              <a:t>Students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FFF8FF"/>
                </a:solidFill>
              </a:rPr>
              <a:t>Young adults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FFF8FF"/>
                </a:solidFill>
              </a:rPr>
              <a:t>Children with guardian support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FFF8FF"/>
                </a:solidFill>
              </a:rPr>
              <a:t>Users needing focus recovery and routine tracking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200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0021"/>
          </a:solidFill>
          <a:ln w="12700">
            <a:solidFill>
              <a:srgbClr val="22002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" y="-365760"/>
            <a:ext cx="3108960" cy="2011680"/>
          </a:xfrm>
          <a:prstGeom prst="ellipse">
            <a:avLst/>
          </a:prstGeom>
          <a:solidFill>
            <a:srgbClr val="FF31DF">
              <a:alpha val="45000"/>
            </a:srgbClr>
          </a:solidFill>
          <a:ln w="12700">
            <a:solidFill>
              <a:srgbClr val="FF31D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61120" y="-182880"/>
            <a:ext cx="2743200" cy="1920240"/>
          </a:xfrm>
          <a:prstGeom prst="ellipse">
            <a:avLst/>
          </a:prstGeom>
          <a:solidFill>
            <a:srgbClr val="42CAFF">
              <a:alpha val="32000"/>
            </a:srgbClr>
          </a:solidFill>
          <a:ln w="12700">
            <a:solidFill>
              <a:srgbClr val="42CA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8FF"/>
                </a:solidFill>
              </a:rPr>
              <a:t>System Workflow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89611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CFF0"/>
                </a:solidFill>
              </a:rPr>
              <a:t>From login to dashboard to assistant actions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1600200" cy="658368"/>
          </a:xfrm>
          <a:prstGeom prst="roundRect">
            <a:avLst>
              <a:gd name="adj" fmla="val 6944"/>
            </a:avLst>
          </a:prstGeom>
          <a:solidFill>
            <a:srgbClr val="3B093F">
              <a:alpha val="9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1709928"/>
            <a:ext cx="1453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Sign in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30552" y="1719072"/>
            <a:ext cx="1097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2CAFF"/>
                </a:solidFill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2267712" y="1554480"/>
            <a:ext cx="1600200" cy="658368"/>
          </a:xfrm>
          <a:prstGeom prst="roundRect">
            <a:avLst>
              <a:gd name="adj" fmla="val 6944"/>
            </a:avLst>
          </a:prstGeom>
          <a:solidFill>
            <a:srgbClr val="3B093F">
              <a:alpha val="9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40864" y="1709928"/>
            <a:ext cx="1453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Load profile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95344" y="1719072"/>
            <a:ext cx="1097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2CAFF"/>
                </a:solidFill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4032504" y="1554480"/>
            <a:ext cx="1600200" cy="658368"/>
          </a:xfrm>
          <a:prstGeom prst="roundRect">
            <a:avLst>
              <a:gd name="adj" fmla="val 6944"/>
            </a:avLst>
          </a:prstGeom>
          <a:solidFill>
            <a:srgbClr val="3B093F">
              <a:alpha val="9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05656" y="1709928"/>
            <a:ext cx="1453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Build dashboard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60136" y="1719072"/>
            <a:ext cx="1097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2CAFF"/>
                </a:solidFill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5797296" y="1554480"/>
            <a:ext cx="1600200" cy="658368"/>
          </a:xfrm>
          <a:prstGeom prst="roundRect">
            <a:avLst>
              <a:gd name="adj" fmla="val 6944"/>
            </a:avLst>
          </a:prstGeom>
          <a:solidFill>
            <a:srgbClr val="3B093F">
              <a:alpha val="9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70448" y="1709928"/>
            <a:ext cx="1453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Track data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24928" y="1719072"/>
            <a:ext cx="1097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2CAFF"/>
                </a:solidFill>
              </a:rPr>
              <a:t>→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7562088" y="1554480"/>
            <a:ext cx="1600200" cy="658368"/>
          </a:xfrm>
          <a:prstGeom prst="roundRect">
            <a:avLst>
              <a:gd name="adj" fmla="val 6944"/>
            </a:avLst>
          </a:prstGeom>
          <a:solidFill>
            <a:srgbClr val="3B093F">
              <a:alpha val="9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35240" y="1709928"/>
            <a:ext cx="1453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Ask assistant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89720" y="1719072"/>
            <a:ext cx="1097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2CAFF"/>
                </a:solidFill>
              </a:rPr>
              <a:t>→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9326880" y="1554480"/>
            <a:ext cx="1600200" cy="658368"/>
          </a:xfrm>
          <a:prstGeom prst="roundRect">
            <a:avLst>
              <a:gd name="adj" fmla="val 6944"/>
            </a:avLst>
          </a:prstGeom>
          <a:solidFill>
            <a:srgbClr val="3B093F">
              <a:alpha val="9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00032" y="1709928"/>
            <a:ext cx="1453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Execute tool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54512" y="1719072"/>
            <a:ext cx="1097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2CAFF"/>
                </a:solidFill>
              </a:rPr>
              <a:t>→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11091672" y="1554480"/>
            <a:ext cx="1600200" cy="658368"/>
          </a:xfrm>
          <a:prstGeom prst="roundRect">
            <a:avLst>
              <a:gd name="adj" fmla="val 6944"/>
            </a:avLst>
          </a:prstGeom>
          <a:solidFill>
            <a:srgbClr val="3B093F">
              <a:alpha val="9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164824" y="1709928"/>
            <a:ext cx="1453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Refresh UI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31520" y="2834640"/>
            <a:ext cx="10698480" cy="2377440"/>
          </a:xfrm>
          <a:prstGeom prst="roundRect">
            <a:avLst>
              <a:gd name="adj" fmla="val 3077"/>
            </a:avLst>
          </a:prstGeom>
          <a:solidFill>
            <a:srgbClr val="102B30">
              <a:alpha val="88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5840" y="3200400"/>
            <a:ext cx="1005840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FFF8FF"/>
                </a:solidFill>
              </a:rPr>
              <a:t>The frontend stores a bearer-token session after login.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FFF8FF"/>
                </a:solidFill>
              </a:rPr>
              <a:t>The backend loads user settings, focus plans, summaries, timers, and usage logs from MySQL.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FFF8FF"/>
                </a:solidFill>
              </a:rPr>
              <a:t>The assistant can change settings, start or stop timers, and then push refreshed state back to the interface.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200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0021"/>
          </a:solidFill>
          <a:ln w="12700">
            <a:solidFill>
              <a:srgbClr val="22002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" y="-365760"/>
            <a:ext cx="3108960" cy="2011680"/>
          </a:xfrm>
          <a:prstGeom prst="ellipse">
            <a:avLst/>
          </a:prstGeom>
          <a:solidFill>
            <a:srgbClr val="FF31DF">
              <a:alpha val="45000"/>
            </a:srgbClr>
          </a:solidFill>
          <a:ln w="12700">
            <a:solidFill>
              <a:srgbClr val="FF31D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61120" y="-182880"/>
            <a:ext cx="2743200" cy="1920240"/>
          </a:xfrm>
          <a:prstGeom prst="ellipse">
            <a:avLst/>
          </a:prstGeom>
          <a:solidFill>
            <a:srgbClr val="42CAFF">
              <a:alpha val="32000"/>
            </a:srgbClr>
          </a:solidFill>
          <a:ln w="12700">
            <a:solidFill>
              <a:srgbClr val="42CA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8FF"/>
                </a:solidFill>
              </a:rPr>
              <a:t>DFD Level 0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89611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CFF0"/>
                </a:solidFill>
              </a:rPr>
              <a:t>External entities and main data stores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31520" y="1417320"/>
            <a:ext cx="5212080" cy="1280160"/>
          </a:xfrm>
          <a:prstGeom prst="roundRect">
            <a:avLst>
              <a:gd name="adj" fmla="val 5714"/>
            </a:avLst>
          </a:prstGeom>
          <a:solidFill>
            <a:srgbClr val="130F18">
              <a:alpha val="92000"/>
            </a:srgbClr>
          </a:solidFill>
          <a:ln w="12700">
            <a:solidFill>
              <a:srgbClr val="42CAFF">
                <a:alpha val="5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527048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User/Parent -&gt; Bboo System -&gt; MySQL\nUser/Parent -&gt; Bboo System -&gt; Ollama/Qwen\nBboo System -&gt; Local RAG Store -&gt; Bboo System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3063240"/>
            <a:ext cx="1828800" cy="731520"/>
          </a:xfrm>
          <a:prstGeom prst="roundRect">
            <a:avLst>
              <a:gd name="adj" fmla="val 6250"/>
            </a:avLst>
          </a:prstGeom>
          <a:solidFill>
            <a:srgbClr val="3B093F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3310128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User / Parent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788920" y="31821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2CAFF"/>
                </a:solidFill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3154680" y="2926080"/>
            <a:ext cx="2377440" cy="1005840"/>
          </a:xfrm>
          <a:prstGeom prst="roundRect">
            <a:avLst>
              <a:gd name="adj" fmla="val 4545"/>
            </a:avLst>
          </a:prstGeom>
          <a:solidFill>
            <a:srgbClr val="FF31DF">
              <a:alpha val="88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0440" y="3273552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Bboo System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715000" y="31821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2CAFF"/>
                </a:solidFill>
              </a:rPr>
              <a:t>↔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6080760" y="2468880"/>
            <a:ext cx="2103120" cy="731520"/>
          </a:xfrm>
          <a:prstGeom prst="roundRect">
            <a:avLst>
              <a:gd name="adj" fmla="val 6250"/>
            </a:avLst>
          </a:prstGeom>
          <a:solidFill>
            <a:srgbClr val="102B30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9400" y="272491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MySQL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080760" y="3429000"/>
            <a:ext cx="2103120" cy="731520"/>
          </a:xfrm>
          <a:prstGeom prst="roundRect">
            <a:avLst>
              <a:gd name="adj" fmla="val 6250"/>
            </a:avLst>
          </a:prstGeom>
          <a:solidFill>
            <a:srgbClr val="102B30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3685032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Ollama / Qwen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595360" y="2926080"/>
            <a:ext cx="2011680" cy="731520"/>
          </a:xfrm>
          <a:prstGeom prst="roundRect">
            <a:avLst>
              <a:gd name="adj" fmla="val 6250"/>
            </a:avLst>
          </a:prstGeom>
          <a:solidFill>
            <a:srgbClr val="3B093F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06840" y="3182112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Local RAG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200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0021"/>
          </a:solidFill>
          <a:ln w="12700">
            <a:solidFill>
              <a:srgbClr val="22002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" y="-365760"/>
            <a:ext cx="3108960" cy="2011680"/>
          </a:xfrm>
          <a:prstGeom prst="ellipse">
            <a:avLst/>
          </a:prstGeom>
          <a:solidFill>
            <a:srgbClr val="FF31DF">
              <a:alpha val="45000"/>
            </a:srgbClr>
          </a:solidFill>
          <a:ln w="12700">
            <a:solidFill>
              <a:srgbClr val="FF31D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61120" y="-182880"/>
            <a:ext cx="2743200" cy="1920240"/>
          </a:xfrm>
          <a:prstGeom prst="ellipse">
            <a:avLst/>
          </a:prstGeom>
          <a:solidFill>
            <a:srgbClr val="42CAFF">
              <a:alpha val="32000"/>
            </a:srgbClr>
          </a:solidFill>
          <a:ln w="12700">
            <a:solidFill>
              <a:srgbClr val="42CA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8FF"/>
                </a:solidFill>
              </a:rPr>
              <a:t>DFD Level 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89611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CFF0"/>
                </a:solidFill>
              </a:rPr>
              <a:t>Process decomposition of the Bboo system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31520" y="1417320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3B093F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66420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1.0 Authentication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840480" y="1417320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3B093F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77640" y="166420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2.0 Dashboard and Plan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178040" y="1417320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3B093F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0" y="166420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3.0 Tracking and Logging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286000" y="3154680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3B093F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23160" y="340156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4.0 Assistant and Tools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897880" y="3154680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3B093F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340156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5.0 Repository and Persistence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68680" y="475488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4CFF0"/>
                </a:solidFill>
              </a:rPr>
              <a:t>Users interact with authentication, dashboards, tracking, and the assistant. All durable state flows through the repository into MySQL.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200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0021"/>
          </a:solidFill>
          <a:ln w="12700">
            <a:solidFill>
              <a:srgbClr val="22002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" y="-365760"/>
            <a:ext cx="3108960" cy="2011680"/>
          </a:xfrm>
          <a:prstGeom prst="ellipse">
            <a:avLst/>
          </a:prstGeom>
          <a:solidFill>
            <a:srgbClr val="FF31DF">
              <a:alpha val="45000"/>
            </a:srgbClr>
          </a:solidFill>
          <a:ln w="12700">
            <a:solidFill>
              <a:srgbClr val="FF31D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61120" y="-182880"/>
            <a:ext cx="2743200" cy="1920240"/>
          </a:xfrm>
          <a:prstGeom prst="ellipse">
            <a:avLst/>
          </a:prstGeom>
          <a:solidFill>
            <a:srgbClr val="42CAFF">
              <a:alpha val="32000"/>
            </a:srgbClr>
          </a:solidFill>
          <a:ln w="12700">
            <a:solidFill>
              <a:srgbClr val="42CA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8FF"/>
                </a:solidFill>
              </a:rPr>
              <a:t>C4 Context Diagram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89611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CFF0"/>
                </a:solidFill>
              </a:rPr>
              <a:t>System boundary and external systems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1417320"/>
            <a:ext cx="466344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FF8FF"/>
                </a:solidFill>
              </a:rPr>
              <a:t>Actors: User, Parent / Guardian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FF8FF"/>
                </a:solidFill>
              </a:rPr>
              <a:t>System: Bboo Focus Recovery System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FF8FF"/>
                </a:solidFill>
              </a:rPr>
              <a:t>External systems: MySQL Database, Ollama with Qwen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394960" y="1554480"/>
            <a:ext cx="2560320" cy="1005840"/>
          </a:xfrm>
          <a:prstGeom prst="roundRect">
            <a:avLst>
              <a:gd name="adj" fmla="val 4545"/>
            </a:avLst>
          </a:prstGeom>
          <a:solidFill>
            <a:srgbClr val="FF31DF">
              <a:alpha val="9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06440" y="1901952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Bboo System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68680" y="2743200"/>
            <a:ext cx="1828800" cy="685800"/>
          </a:xfrm>
          <a:prstGeom prst="roundRect">
            <a:avLst>
              <a:gd name="adj" fmla="val 6667"/>
            </a:avLst>
          </a:prstGeom>
          <a:solidFill>
            <a:srgbClr val="3B093F"/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17320" y="298094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User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68680" y="3703320"/>
            <a:ext cx="1828800" cy="685800"/>
          </a:xfrm>
          <a:prstGeom prst="roundRect">
            <a:avLst>
              <a:gd name="adj" fmla="val 6667"/>
            </a:avLst>
          </a:prstGeom>
          <a:solidFill>
            <a:srgbClr val="102B30"/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8992" y="3941064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Parent / Guardian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732520" y="2743200"/>
            <a:ext cx="1920240" cy="685800"/>
          </a:xfrm>
          <a:prstGeom prst="roundRect">
            <a:avLst>
              <a:gd name="adj" fmla="val 6667"/>
            </a:avLst>
          </a:prstGeom>
          <a:solidFill>
            <a:srgbClr val="3B093F"/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81160" y="298094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MySQL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732520" y="3703320"/>
            <a:ext cx="1920240" cy="685800"/>
          </a:xfrm>
          <a:prstGeom prst="roundRect">
            <a:avLst>
              <a:gd name="adj" fmla="val 6667"/>
            </a:avLst>
          </a:prstGeom>
          <a:solidFill>
            <a:srgbClr val="3B093F"/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52560" y="3941064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Ollama / Qwen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200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0021"/>
          </a:solidFill>
          <a:ln w="12700">
            <a:solidFill>
              <a:srgbClr val="22002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" y="-365760"/>
            <a:ext cx="3108960" cy="2011680"/>
          </a:xfrm>
          <a:prstGeom prst="ellipse">
            <a:avLst/>
          </a:prstGeom>
          <a:solidFill>
            <a:srgbClr val="FF31DF">
              <a:alpha val="45000"/>
            </a:srgbClr>
          </a:solidFill>
          <a:ln w="12700">
            <a:solidFill>
              <a:srgbClr val="FF31D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61120" y="-182880"/>
            <a:ext cx="2743200" cy="1920240"/>
          </a:xfrm>
          <a:prstGeom prst="ellipse">
            <a:avLst/>
          </a:prstGeom>
          <a:solidFill>
            <a:srgbClr val="42CAFF">
              <a:alpha val="32000"/>
            </a:srgbClr>
          </a:solidFill>
          <a:ln w="12700">
            <a:solidFill>
              <a:srgbClr val="42CA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8FF"/>
                </a:solidFill>
              </a:rPr>
              <a:t>C4 Container Diagram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89611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CFF0"/>
                </a:solidFill>
              </a:rPr>
              <a:t>Major technical containers in the solution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645920"/>
            <a:ext cx="1600200" cy="658368"/>
          </a:xfrm>
          <a:prstGeom prst="roundRect">
            <a:avLst>
              <a:gd name="adj" fmla="val 6944"/>
            </a:avLst>
          </a:prstGeom>
          <a:solidFill>
            <a:srgbClr val="3B093F">
              <a:alpha val="9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1801368"/>
            <a:ext cx="1453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Frontend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30552" y="1810512"/>
            <a:ext cx="1097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2CAFF"/>
                </a:solidFill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2267712" y="1645920"/>
            <a:ext cx="1600200" cy="658368"/>
          </a:xfrm>
          <a:prstGeom prst="roundRect">
            <a:avLst>
              <a:gd name="adj" fmla="val 6944"/>
            </a:avLst>
          </a:prstGeom>
          <a:solidFill>
            <a:srgbClr val="3B093F">
              <a:alpha val="9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40864" y="1801368"/>
            <a:ext cx="1453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API Layer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95344" y="1810512"/>
            <a:ext cx="1097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2CAFF"/>
                </a:solidFill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4032504" y="1645920"/>
            <a:ext cx="1600200" cy="658368"/>
          </a:xfrm>
          <a:prstGeom prst="roundRect">
            <a:avLst>
              <a:gd name="adj" fmla="val 6944"/>
            </a:avLst>
          </a:prstGeom>
          <a:solidFill>
            <a:srgbClr val="3B093F">
              <a:alpha val="9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05656" y="1801368"/>
            <a:ext cx="1453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Service Layer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60136" y="1810512"/>
            <a:ext cx="1097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2CAFF"/>
                </a:solidFill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5797296" y="1645920"/>
            <a:ext cx="1600200" cy="658368"/>
          </a:xfrm>
          <a:prstGeom prst="roundRect">
            <a:avLst>
              <a:gd name="adj" fmla="val 6944"/>
            </a:avLst>
          </a:prstGeom>
          <a:solidFill>
            <a:srgbClr val="3B093F">
              <a:alpha val="9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70448" y="1801368"/>
            <a:ext cx="1453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Agent Runtime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24928" y="1810512"/>
            <a:ext cx="1097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2CAFF"/>
                </a:solidFill>
              </a:rPr>
              <a:t>→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7562088" y="1645920"/>
            <a:ext cx="1600200" cy="658368"/>
          </a:xfrm>
          <a:prstGeom prst="roundRect">
            <a:avLst>
              <a:gd name="adj" fmla="val 6944"/>
            </a:avLst>
          </a:prstGeom>
          <a:solidFill>
            <a:srgbClr val="3B093F">
              <a:alpha val="9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35240" y="1801368"/>
            <a:ext cx="1453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Tool Layer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89720" y="1810512"/>
            <a:ext cx="1097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2CAFF"/>
                </a:solidFill>
              </a:rPr>
              <a:t>→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9326880" y="1645920"/>
            <a:ext cx="1600200" cy="658368"/>
          </a:xfrm>
          <a:prstGeom prst="roundRect">
            <a:avLst>
              <a:gd name="adj" fmla="val 6944"/>
            </a:avLst>
          </a:prstGeom>
          <a:solidFill>
            <a:srgbClr val="3B093F">
              <a:alpha val="9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00032" y="1801368"/>
            <a:ext cx="1453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Repository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54512" y="1810512"/>
            <a:ext cx="1097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2CAFF"/>
                </a:solidFill>
              </a:rPr>
              <a:t>→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11091672" y="1645920"/>
            <a:ext cx="1600200" cy="658368"/>
          </a:xfrm>
          <a:prstGeom prst="roundRect">
            <a:avLst>
              <a:gd name="adj" fmla="val 6944"/>
            </a:avLst>
          </a:prstGeom>
          <a:solidFill>
            <a:srgbClr val="3B093F">
              <a:alpha val="9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164824" y="1801368"/>
            <a:ext cx="1453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MySQL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68680" y="3063240"/>
            <a:ext cx="10241280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FF8FF"/>
                </a:solidFill>
              </a:rPr>
              <a:t>Frontend pages use shared JavaScript and bearer-token API requests.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FF8FF"/>
                </a:solidFill>
              </a:rPr>
              <a:t>The application server delegates to the service layer and assistant runtime.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FF8FF"/>
                </a:solidFill>
              </a:rPr>
              <a:t>The assistant runtime combines retrieval, Ollama planning, and safe tool execution.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200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0021"/>
          </a:solidFill>
          <a:ln w="12700">
            <a:solidFill>
              <a:srgbClr val="22002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" y="-365760"/>
            <a:ext cx="3108960" cy="2011680"/>
          </a:xfrm>
          <a:prstGeom prst="ellipse">
            <a:avLst/>
          </a:prstGeom>
          <a:solidFill>
            <a:srgbClr val="FF31DF">
              <a:alpha val="45000"/>
            </a:srgbClr>
          </a:solidFill>
          <a:ln w="12700">
            <a:solidFill>
              <a:srgbClr val="FF31D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61120" y="-182880"/>
            <a:ext cx="2743200" cy="1920240"/>
          </a:xfrm>
          <a:prstGeom prst="ellipse">
            <a:avLst/>
          </a:prstGeom>
          <a:solidFill>
            <a:srgbClr val="42CAFF">
              <a:alpha val="32000"/>
            </a:srgbClr>
          </a:solidFill>
          <a:ln w="12700">
            <a:solidFill>
              <a:srgbClr val="42CA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8FF"/>
                </a:solidFill>
              </a:rPr>
              <a:t>Assistant Architecture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89611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CFF0"/>
                </a:solidFill>
              </a:rPr>
              <a:t>How the natural-language agent works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1600200" cy="658368"/>
          </a:xfrm>
          <a:prstGeom prst="roundRect">
            <a:avLst>
              <a:gd name="adj" fmla="val 6944"/>
            </a:avLst>
          </a:prstGeom>
          <a:solidFill>
            <a:srgbClr val="102B30">
              <a:alpha val="9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1709928"/>
            <a:ext cx="1453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User Message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30552" y="1719072"/>
            <a:ext cx="1097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2CAFF"/>
                </a:solidFill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2267712" y="1554480"/>
            <a:ext cx="1600200" cy="658368"/>
          </a:xfrm>
          <a:prstGeom prst="roundRect">
            <a:avLst>
              <a:gd name="adj" fmla="val 6944"/>
            </a:avLst>
          </a:prstGeom>
          <a:solidFill>
            <a:srgbClr val="102B30">
              <a:alpha val="9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40864" y="1709928"/>
            <a:ext cx="1453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Retrieve Context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95344" y="1719072"/>
            <a:ext cx="1097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2CAFF"/>
                </a:solidFill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4032504" y="1554480"/>
            <a:ext cx="1600200" cy="658368"/>
          </a:xfrm>
          <a:prstGeom prst="roundRect">
            <a:avLst>
              <a:gd name="adj" fmla="val 6944"/>
            </a:avLst>
          </a:prstGeom>
          <a:solidFill>
            <a:srgbClr val="102B30">
              <a:alpha val="9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05656" y="1709928"/>
            <a:ext cx="1453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Ollama Planner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60136" y="1719072"/>
            <a:ext cx="1097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2CAFF"/>
                </a:solidFill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5797296" y="1554480"/>
            <a:ext cx="1600200" cy="658368"/>
          </a:xfrm>
          <a:prstGeom prst="roundRect">
            <a:avLst>
              <a:gd name="adj" fmla="val 6944"/>
            </a:avLst>
          </a:prstGeom>
          <a:solidFill>
            <a:srgbClr val="102B30">
              <a:alpha val="9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70448" y="1709928"/>
            <a:ext cx="1453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Tool Choice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24928" y="1719072"/>
            <a:ext cx="1097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2CAFF"/>
                </a:solidFill>
              </a:rPr>
              <a:t>→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7562088" y="1554480"/>
            <a:ext cx="1600200" cy="658368"/>
          </a:xfrm>
          <a:prstGeom prst="roundRect">
            <a:avLst>
              <a:gd name="adj" fmla="val 6944"/>
            </a:avLst>
          </a:prstGeom>
          <a:solidFill>
            <a:srgbClr val="102B30">
              <a:alpha val="9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35240" y="1709928"/>
            <a:ext cx="1453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Repository Action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89720" y="1719072"/>
            <a:ext cx="1097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2CAFF"/>
                </a:solidFill>
              </a:rPr>
              <a:t>→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9326880" y="1554480"/>
            <a:ext cx="1600200" cy="658368"/>
          </a:xfrm>
          <a:prstGeom prst="roundRect">
            <a:avLst>
              <a:gd name="adj" fmla="val 6944"/>
            </a:avLst>
          </a:prstGeom>
          <a:solidFill>
            <a:srgbClr val="102B30">
              <a:alpha val="9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00032" y="1709928"/>
            <a:ext cx="1453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Refresh State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68680" y="2971800"/>
            <a:ext cx="10241280" cy="2286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FF8FF"/>
                </a:solidFill>
              </a:rPr>
              <a:t>Direct command rules are evaluated first for safety.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FF8FF"/>
                </a:solidFill>
              </a:rPr>
              <a:t>If needed, Ollama asks Qwen to return strict JSON with intent and tool arguments.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FF8FF"/>
                </a:solidFill>
              </a:rPr>
              <a:t>The tool registry is the only path allowed to update system state.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FF8FF"/>
                </a:solidFill>
              </a:rPr>
              <a:t>Conversation and action logs are stored in MySQL.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200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0021"/>
          </a:solidFill>
          <a:ln w="12700">
            <a:solidFill>
              <a:srgbClr val="22002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" y="-365760"/>
            <a:ext cx="3108960" cy="2011680"/>
          </a:xfrm>
          <a:prstGeom prst="ellipse">
            <a:avLst/>
          </a:prstGeom>
          <a:solidFill>
            <a:srgbClr val="FF31DF">
              <a:alpha val="45000"/>
            </a:srgbClr>
          </a:solidFill>
          <a:ln w="12700">
            <a:solidFill>
              <a:srgbClr val="FF31D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61120" y="-182880"/>
            <a:ext cx="2743200" cy="1920240"/>
          </a:xfrm>
          <a:prstGeom prst="ellipse">
            <a:avLst/>
          </a:prstGeom>
          <a:solidFill>
            <a:srgbClr val="42CAFF">
              <a:alpha val="32000"/>
            </a:srgbClr>
          </a:solidFill>
          <a:ln w="12700">
            <a:solidFill>
              <a:srgbClr val="42CA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8FF"/>
                </a:solidFill>
              </a:rPr>
              <a:t>Main Files and Responsibilities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89611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CFF0"/>
                </a:solidFill>
              </a:rPr>
              <a:t>Where each major part lives in the codebase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31520" y="1417320"/>
            <a:ext cx="10607040" cy="4389120"/>
          </a:xfrm>
          <a:prstGeom prst="roundRect">
            <a:avLst>
              <a:gd name="adj" fmla="val 1667"/>
            </a:avLst>
          </a:prstGeom>
          <a:solidFill>
            <a:srgbClr val="130F18">
              <a:alpha val="92000"/>
            </a:srgbClr>
          </a:solidFill>
          <a:ln w="12700">
            <a:solidFill>
              <a:srgbClr val="42CAFF">
                <a:alpha val="5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527048"/>
            <a:ext cx="103327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app.py                     -&gt; Working backend server\napi_fastapi.py             -&gt; Future-ready FastAPI entrypoint\nservices/app_service.py    -&gt; Service layer\nagent/langgraph_runtime.py -&gt; Assistant workflow\nagent/tools.py             -&gt; Safe actions\nagent/ollama_client.py     -&gt; Ollama integration\nagent/rag_store.py         -&gt; Retrieval knowledge store\nstorage/mysql_repository.py -&gt; MySQL persistence\nstatic/dashboard.js        -&gt; Shared frontend logic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200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0021"/>
          </a:solidFill>
          <a:ln w="12700">
            <a:solidFill>
              <a:srgbClr val="22002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" y="-365760"/>
            <a:ext cx="3108960" cy="2011680"/>
          </a:xfrm>
          <a:prstGeom prst="ellipse">
            <a:avLst/>
          </a:prstGeom>
          <a:solidFill>
            <a:srgbClr val="FF31DF">
              <a:alpha val="45000"/>
            </a:srgbClr>
          </a:solidFill>
          <a:ln w="12700">
            <a:solidFill>
              <a:srgbClr val="FF31D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61120" y="-182880"/>
            <a:ext cx="2743200" cy="1920240"/>
          </a:xfrm>
          <a:prstGeom prst="ellipse">
            <a:avLst/>
          </a:prstGeom>
          <a:solidFill>
            <a:srgbClr val="42CAFF">
              <a:alpha val="32000"/>
            </a:srgbClr>
          </a:solidFill>
          <a:ln w="12700">
            <a:solidFill>
              <a:srgbClr val="42CA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8FF"/>
                </a:solidFill>
              </a:rPr>
              <a:t>Database Design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89611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CFF0"/>
                </a:solidFill>
              </a:rPr>
              <a:t>Core operational tables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68680" y="1508760"/>
            <a:ext cx="5486400" cy="3840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FF8FF"/>
                </a:solidFill>
              </a:rPr>
              <a:t>users, behavior_profiles, user_sessions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FF8FF"/>
                </a:solidFill>
              </a:rPr>
              <a:t>focus_plans, focus_plan_history, app_settings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FF8FF"/>
                </a:solidFill>
              </a:rPr>
              <a:t>daily_checkins, focus_timer_sessions, app_usage_logs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FF8FF"/>
                </a:solidFill>
              </a:rPr>
              <a:t>dashboard_snapshots, guardian_links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FF8FF"/>
                </a:solidFill>
              </a:rPr>
              <a:t>agent_conversations, agent_messages, agent_action_logs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812280" y="1600200"/>
            <a:ext cx="4297680" cy="3566160"/>
          </a:xfrm>
          <a:prstGeom prst="roundRect">
            <a:avLst>
              <a:gd name="adj" fmla="val 1282"/>
            </a:avLst>
          </a:prstGeom>
          <a:solidFill>
            <a:srgbClr val="102B30">
              <a:alpha val="92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14032" y="18745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C5B4"/>
                </a:solidFill>
              </a:rPr>
              <a:t>Why these tables matter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132320" y="2240280"/>
            <a:ext cx="3474720" cy="2286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FFF8FF"/>
                </a:solidFill>
              </a:rPr>
              <a:t>Keep user state persistent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FFF8FF"/>
                </a:solidFill>
              </a:rPr>
              <a:t>Support analytics and summaries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FFF8FF"/>
                </a:solidFill>
              </a:rPr>
              <a:t>Track assistant messages and actions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FFF8FF"/>
                </a:solidFill>
              </a:rPr>
              <a:t>Make the dashboard reactive to real behavior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200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0021"/>
          </a:solidFill>
          <a:ln w="12700">
            <a:solidFill>
              <a:srgbClr val="22002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" y="-365760"/>
            <a:ext cx="3108960" cy="2011680"/>
          </a:xfrm>
          <a:prstGeom prst="ellipse">
            <a:avLst/>
          </a:prstGeom>
          <a:solidFill>
            <a:srgbClr val="FF31DF">
              <a:alpha val="45000"/>
            </a:srgbClr>
          </a:solidFill>
          <a:ln w="12700">
            <a:solidFill>
              <a:srgbClr val="FF31D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61120" y="-182880"/>
            <a:ext cx="2743200" cy="1920240"/>
          </a:xfrm>
          <a:prstGeom prst="ellipse">
            <a:avLst/>
          </a:prstGeom>
          <a:solidFill>
            <a:srgbClr val="42CAFF">
              <a:alpha val="32000"/>
            </a:srgbClr>
          </a:solidFill>
          <a:ln w="12700">
            <a:solidFill>
              <a:srgbClr val="42CA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8FF"/>
                </a:solidFill>
              </a:rPr>
              <a:t>Key Workflows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89611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CFF0"/>
                </a:solidFill>
              </a:rPr>
              <a:t>Examples of end-to-end system behavior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22960" y="1508760"/>
            <a:ext cx="10424160" cy="3840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FF8FF"/>
                </a:solidFill>
              </a:rPr>
              <a:t>Login workflow: authenticate user, create session, load dashboard.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FF8FF"/>
                </a:solidFill>
              </a:rPr>
              <a:t>Dashboard workflow: load profile, plan, metrics, charts, and summaries.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FF8FF"/>
                </a:solidFill>
              </a:rPr>
              <a:t>Assistant workflow: message -&gt; retrieval -&gt; planner -&gt; tool -&gt; database -&gt; refreshed UI.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FF8FF"/>
                </a:solidFill>
              </a:rPr>
              <a:t>Timer workflow: start / stop timer and show updated state in Check-ins page.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200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0021"/>
          </a:solidFill>
          <a:ln w="12700">
            <a:solidFill>
              <a:srgbClr val="22002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" y="-365760"/>
            <a:ext cx="3108960" cy="2011680"/>
          </a:xfrm>
          <a:prstGeom prst="ellipse">
            <a:avLst/>
          </a:prstGeom>
          <a:solidFill>
            <a:srgbClr val="FF31DF">
              <a:alpha val="45000"/>
            </a:srgbClr>
          </a:solidFill>
          <a:ln w="12700">
            <a:solidFill>
              <a:srgbClr val="FF31D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61120" y="-182880"/>
            <a:ext cx="2743200" cy="1920240"/>
          </a:xfrm>
          <a:prstGeom prst="ellipse">
            <a:avLst/>
          </a:prstGeom>
          <a:solidFill>
            <a:srgbClr val="42CAFF">
              <a:alpha val="32000"/>
            </a:srgbClr>
          </a:solidFill>
          <a:ln w="12700">
            <a:solidFill>
              <a:srgbClr val="42CA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8FF"/>
                </a:solidFill>
              </a:rPr>
              <a:t>Technology Stack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89611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CFF0"/>
                </a:solidFill>
              </a:rPr>
              <a:t>Main technologies used in the project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22960" y="1463040"/>
            <a:ext cx="5303520" cy="4114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FF8FF"/>
                </a:solidFill>
              </a:rPr>
              <a:t>Frontend: HTML, CSS, JavaScript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FF8FF"/>
                </a:solidFill>
              </a:rPr>
              <a:t>Backend: Python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FF8FF"/>
                </a:solidFill>
              </a:rPr>
              <a:t>API styles: http.server and FastAPI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FF8FF"/>
                </a:solidFill>
              </a:rPr>
              <a:t>Database: MySQL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FF8FF"/>
                </a:solidFill>
              </a:rPr>
              <a:t>Assistant model: Ollama with Qwen2.5 7B Instruct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FF8FF"/>
                </a:solidFill>
              </a:rPr>
              <a:t>Container support: Docker and Docker Compose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92240" y="1554480"/>
            <a:ext cx="4572000" cy="3931920"/>
          </a:xfrm>
          <a:prstGeom prst="roundRect">
            <a:avLst>
              <a:gd name="adj" fmla="val 1163"/>
            </a:avLst>
          </a:prstGeom>
          <a:solidFill>
            <a:srgbClr val="3B093F">
              <a:alpha val="90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12280" y="2011680"/>
            <a:ext cx="3840480" cy="2286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FF8FF"/>
                </a:solidFill>
              </a:rPr>
              <a:t>Retrieval layer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FF8FF"/>
                </a:solidFill>
              </a:rPr>
              <a:t>Service layer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FF8FF"/>
                </a:solidFill>
              </a:rPr>
              <a:t>Tool-based action layer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FF8FF"/>
                </a:solidFill>
              </a:rPr>
              <a:t>Reactive dashboard layer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200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0021"/>
          </a:solidFill>
          <a:ln w="12700">
            <a:solidFill>
              <a:srgbClr val="22002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" y="-365760"/>
            <a:ext cx="3108960" cy="2011680"/>
          </a:xfrm>
          <a:prstGeom prst="ellipse">
            <a:avLst/>
          </a:prstGeom>
          <a:solidFill>
            <a:srgbClr val="FF31DF">
              <a:alpha val="45000"/>
            </a:srgbClr>
          </a:solidFill>
          <a:ln w="12700">
            <a:solidFill>
              <a:srgbClr val="FF31D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61120" y="-182880"/>
            <a:ext cx="2743200" cy="1920240"/>
          </a:xfrm>
          <a:prstGeom prst="ellipse">
            <a:avLst/>
          </a:prstGeom>
          <a:solidFill>
            <a:srgbClr val="42CAFF">
              <a:alpha val="32000"/>
            </a:srgbClr>
          </a:solidFill>
          <a:ln w="12700">
            <a:solidFill>
              <a:srgbClr val="42CA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8FF"/>
                </a:solidFill>
              </a:rPr>
              <a:t>Current Strengths and Limitations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89611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CFF0"/>
                </a:solidFill>
              </a:rPr>
              <a:t>Honest project assessment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22960" y="1463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31DF"/>
                </a:solidFill>
              </a:rPr>
              <a:t>Strengths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1828800"/>
            <a:ext cx="4754880" cy="2926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FF8FF"/>
                </a:solidFill>
              </a:rPr>
              <a:t>Real MySQL persistence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FF8FF"/>
                </a:solidFill>
              </a:rPr>
              <a:t>Session-based authentication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FF8FF"/>
                </a:solidFill>
              </a:rPr>
              <a:t>Reactive tracking and summaries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FF8FF"/>
                </a:solidFill>
              </a:rPr>
              <a:t>Integrated assistant with logs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FF8FF"/>
                </a:solidFill>
              </a:rPr>
              <a:t>Ollama/Qwen support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355080" y="1463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9C5B4"/>
                </a:solidFill>
              </a:rPr>
              <a:t>Limitations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0" y="1828800"/>
            <a:ext cx="4754880" cy="2926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FF8FF"/>
                </a:solidFill>
              </a:rPr>
              <a:t>RAG store is local and lightweight, not full external Chroma yet.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FF8FF"/>
                </a:solidFill>
              </a:rPr>
              <a:t>FastAPI is present but not yet the only runtime.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FFF8FF"/>
                </a:solidFill>
              </a:rPr>
              <a:t>The assistant still uses safety rules in addition to the model planner.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200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0021"/>
          </a:solidFill>
          <a:ln w="12700">
            <a:solidFill>
              <a:srgbClr val="22002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" y="-365760"/>
            <a:ext cx="3108960" cy="2011680"/>
          </a:xfrm>
          <a:prstGeom prst="ellipse">
            <a:avLst/>
          </a:prstGeom>
          <a:solidFill>
            <a:srgbClr val="FF31DF">
              <a:alpha val="45000"/>
            </a:srgbClr>
          </a:solidFill>
          <a:ln w="12700">
            <a:solidFill>
              <a:srgbClr val="FF31D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61120" y="-182880"/>
            <a:ext cx="2743200" cy="1920240"/>
          </a:xfrm>
          <a:prstGeom prst="ellipse">
            <a:avLst/>
          </a:prstGeom>
          <a:solidFill>
            <a:srgbClr val="42CAFF">
              <a:alpha val="32000"/>
            </a:srgbClr>
          </a:solidFill>
          <a:ln w="12700">
            <a:solidFill>
              <a:srgbClr val="42CA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8FF"/>
                </a:solidFill>
              </a:rPr>
              <a:t>Future Enhancements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89611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CFF0"/>
                </a:solidFill>
              </a:rPr>
              <a:t>Next roadmap for the project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68680" y="1554480"/>
            <a:ext cx="10058400" cy="3840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FF8FF"/>
                </a:solidFill>
              </a:rPr>
              <a:t>Complete migration from app.py to FastAPI for all endpoints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FF8FF"/>
                </a:solidFill>
              </a:rPr>
              <a:t>Expand assistant tools for plans, check-ins, and app usage edits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FF8FF"/>
                </a:solidFill>
              </a:rPr>
              <a:t>Move retrieval knowledge to a managed vector store or richer content system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FF8FF"/>
                </a:solidFill>
              </a:rPr>
              <a:t>Add stronger analytics, monitoring, and automated tests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FF8FF"/>
                </a:solidFill>
              </a:rPr>
              <a:t>Refine guardian workflows and multilingual content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200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0021"/>
          </a:solidFill>
          <a:ln w="12700">
            <a:solidFill>
              <a:srgbClr val="22002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" y="-365760"/>
            <a:ext cx="3108960" cy="2011680"/>
          </a:xfrm>
          <a:prstGeom prst="ellipse">
            <a:avLst/>
          </a:prstGeom>
          <a:solidFill>
            <a:srgbClr val="FF31DF">
              <a:alpha val="45000"/>
            </a:srgbClr>
          </a:solidFill>
          <a:ln w="12700">
            <a:solidFill>
              <a:srgbClr val="FF31D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61120" y="-182880"/>
            <a:ext cx="2743200" cy="1920240"/>
          </a:xfrm>
          <a:prstGeom prst="ellipse">
            <a:avLst/>
          </a:prstGeom>
          <a:solidFill>
            <a:srgbClr val="42CAFF">
              <a:alpha val="32000"/>
            </a:srgbClr>
          </a:solidFill>
          <a:ln w="12700">
            <a:solidFill>
              <a:srgbClr val="42CA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8FF"/>
                </a:solidFill>
              </a:rPr>
              <a:t>Closing Summary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89611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CFF0"/>
                </a:solidFill>
              </a:rPr>
              <a:t>What the project delivers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22960" y="1645920"/>
            <a:ext cx="10149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Bboo is now a layered, assistant-enabled focus recovery platform with a real database, reactive dashboard, and natural-language system actions.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926080" y="3200400"/>
            <a:ext cx="621792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4CFF0"/>
                </a:solidFill>
              </a:rPr>
              <a:t>Structured architecture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4CFF0"/>
                </a:solidFill>
              </a:rPr>
              <a:t>Full documentation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4CFF0"/>
                </a:solidFill>
              </a:rPr>
              <a:t>DFD and C4 diagrams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4CFF0"/>
                </a:solidFill>
              </a:rPr>
              <a:t>Presentation-ready project story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Bboo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Bboo System Presentation</dc:title>
  <dc:subject>Bboo system presentation</dc:subject>
  <dc:creator>OpenAI Codex</dc:creator>
  <cp:lastModifiedBy>OpenAI Codex</cp:lastModifiedBy>
  <cp:revision>1</cp:revision>
  <dcterms:created xsi:type="dcterms:W3CDTF">2026-05-15T05:46:42Z</dcterms:created>
  <dcterms:modified xsi:type="dcterms:W3CDTF">2026-05-15T05:46:42Z</dcterms:modified>
</cp:coreProperties>
</file>